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20437a0acd74d2f" /><Relationship Type="http://schemas.openxmlformats.org/officeDocument/2006/relationships/extended-properties" Target="/docProps/app.xml" Id="Rdb8f85ba22b44418" /><Relationship Type="http://schemas.openxmlformats.org/officeDocument/2006/relationships/officeDocument" Target="/ppt/presentation.xml" Id="R38dbd8ef4aec46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31a8966c4b746af"/>
  </p:sldMasterIdLst>
  <p:notesMasterIdLst>
    <p:notesMasterId xmlns:r="http://schemas.openxmlformats.org/officeDocument/2006/relationships" r:id="R2f2ecf73d1544672"/>
  </p:notesMasterIdLst>
  <p:sldIdLst>
    <p:sldId xmlns:r="http://schemas.openxmlformats.org/officeDocument/2006/relationships" id="256" r:id="R6858e1071ea44e6f"/>
    <p:sldId xmlns:r="http://schemas.openxmlformats.org/officeDocument/2006/relationships" id="257" r:id="Rcef4b401111c45bd"/>
    <p:sldId xmlns:r="http://schemas.openxmlformats.org/officeDocument/2006/relationships" id="258" r:id="Rf95ff10d05274bbd"/>
    <p:sldId xmlns:r="http://schemas.openxmlformats.org/officeDocument/2006/relationships" id="259" r:id="Rb96ccca69e794a99"/>
    <p:sldId xmlns:r="http://schemas.openxmlformats.org/officeDocument/2006/relationships" id="260" r:id="R044cd23ff59c4d79"/>
    <p:sldId xmlns:r="http://schemas.openxmlformats.org/officeDocument/2006/relationships" id="261" r:id="Ra3009558f23b42f8"/>
    <p:sldId xmlns:r="http://schemas.openxmlformats.org/officeDocument/2006/relationships" id="262" r:id="R44585dd8aa2d4ee4"/>
    <p:sldId xmlns:r="http://schemas.openxmlformats.org/officeDocument/2006/relationships" id="263" r:id="Rbd2a233e8dfa4e0b"/>
    <p:sldId xmlns:r="http://schemas.openxmlformats.org/officeDocument/2006/relationships" id="264" r:id="R70ba110360c645a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0b814fce5646ff" /><Relationship Type="http://schemas.openxmlformats.org/officeDocument/2006/relationships/slideMaster" Target="/ppt/slideMasters/slideMaster1.xml" Id="R631a8966c4b746af" /><Relationship Type="http://schemas.openxmlformats.org/officeDocument/2006/relationships/notesMaster" Target="/ppt/notesMasters/notesMaster1.xml" Id="R2f2ecf73d1544672" /><Relationship Type="http://schemas.openxmlformats.org/officeDocument/2006/relationships/presProps" Target="/ppt/presProps.xml" Id="R8400975bbb164591" /><Relationship Type="http://schemas.openxmlformats.org/officeDocument/2006/relationships/tableStyles" Target="/ppt/tableStyles.xml" Id="R130dd068567542a6" /><Relationship Type="http://schemas.openxmlformats.org/officeDocument/2006/relationships/slide" Target="/ppt/slides/slide1.xml" Id="R6858e1071ea44e6f" /><Relationship Type="http://schemas.openxmlformats.org/officeDocument/2006/relationships/slide" Target="/ppt/slides/slide2.xml" Id="Rcef4b401111c45bd" /><Relationship Type="http://schemas.openxmlformats.org/officeDocument/2006/relationships/slide" Target="/ppt/slides/slide3.xml" Id="Rf95ff10d05274bbd" /><Relationship Type="http://schemas.openxmlformats.org/officeDocument/2006/relationships/slide" Target="/ppt/slides/slide4.xml" Id="Rb96ccca69e794a99" /><Relationship Type="http://schemas.openxmlformats.org/officeDocument/2006/relationships/slide" Target="/ppt/slides/slide5.xml" Id="R044cd23ff59c4d79" /><Relationship Type="http://schemas.openxmlformats.org/officeDocument/2006/relationships/slide" Target="/ppt/slides/slide6.xml" Id="Ra3009558f23b42f8" /><Relationship Type="http://schemas.openxmlformats.org/officeDocument/2006/relationships/slide" Target="/ppt/slides/slide7.xml" Id="R44585dd8aa2d4ee4" /><Relationship Type="http://schemas.openxmlformats.org/officeDocument/2006/relationships/slide" Target="/ppt/slides/slide8.xml" Id="Rbd2a233e8dfa4e0b" /><Relationship Type="http://schemas.openxmlformats.org/officeDocument/2006/relationships/slide" Target="/ppt/slides/slide9.xml" Id="R70ba110360c645a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4ceefad930c465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9c0b1a2f8fe4c9b" /><Relationship Type="http://schemas.openxmlformats.org/officeDocument/2006/relationships/notesMaster" Target="/ppt/notesMasters/notesMaster1.xml" Id="R6d198cdd397345a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b6ec2024b584b2b" /><Relationship Type="http://schemas.openxmlformats.org/officeDocument/2006/relationships/notesMaster" Target="/ppt/notesMasters/notesMaster1.xml" Id="Rdcefeb42a40f4cc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cef2c9f9e70476d" /><Relationship Type="http://schemas.openxmlformats.org/officeDocument/2006/relationships/notesMaster" Target="/ppt/notesMasters/notesMaster1.xml" Id="R9eb825fc2672417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2b1707816847cd" /><Relationship Type="http://schemas.openxmlformats.org/officeDocument/2006/relationships/notesMaster" Target="/ppt/notesMasters/notesMaster1.xml" Id="Rcec1d5777ab2483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4503a3081d4dcc" /><Relationship Type="http://schemas.openxmlformats.org/officeDocument/2006/relationships/notesMaster" Target="/ppt/notesMasters/notesMaster1.xml" Id="Rc61abb083565490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b992e5ab3514c15" /><Relationship Type="http://schemas.openxmlformats.org/officeDocument/2006/relationships/notesMaster" Target="/ppt/notesMasters/notesMaster1.xml" Id="R304fa94aba9744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4639d651214ae3" /><Relationship Type="http://schemas.openxmlformats.org/officeDocument/2006/relationships/notesMaster" Target="/ppt/notesMasters/notesMaster1.xml" Id="R952e4e0ef9c540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16f481526314e1d" /><Relationship Type="http://schemas.openxmlformats.org/officeDocument/2006/relationships/notesMaster" Target="/ppt/notesMasters/notesMaster1.xml" Id="R54e10fc84c39489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5f0940e5c084ea0" /><Relationship Type="http://schemas.openxmlformats.org/officeDocument/2006/relationships/notesMaster" Target="/ppt/notesMasters/notesMaster1.xml" Id="R1c55e1e72dc8456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asset: public/images/shockis-hero-wide-v2.png</a:t>
            </a:r>
          </a:p>
          <a:p xmlns:a="http://schemas.openxmlformats.org/drawingml/2006/main">
            <a:r>
              <a:t>- Local project source: app/ and public/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routes and page content under app/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routes under app/**/page.tsx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route scan: app/**/page.tsx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source: app/page.tsx</a:t>
            </a:r>
          </a:p>
          <a:p xmlns:a="http://schemas.openxmlformats.org/drawingml/2006/main">
            <a:r>
              <a:t>- Local project asset: public/images/products/amazon-current/st100-main-current.jpg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navigation and CTA links in app/ pages and components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source: app/indications/</a:t>
            </a:r>
          </a:p>
          <a:p xmlns:a="http://schemas.openxmlformats.org/drawingml/2006/main">
            <a:r>
              <a:t>- Local project asset: public/images/indications/body-area-application-figure.png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files: package.json, app/, public/, tsconfig.json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project source map under app/ and public/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8d60e97d1c45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e5a24520f8a4c12" /><Relationship Type="http://schemas.openxmlformats.org/officeDocument/2006/relationships/slideLayout" Target="/ppt/slideLayouts/slideLayout1.xml" Id="R5225777bcdf044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225777bcdf044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3649bedc24422" /><Relationship Type="http://schemas.openxmlformats.org/officeDocument/2006/relationships/image" Target="/ppt/media/image.png" Id="R41fc55b5b02b4c5f" /><Relationship Type="http://schemas.openxmlformats.org/officeDocument/2006/relationships/notesSlide" Target="/ppt/notesSlides/notesSlide1.xml" Id="R5db4e7630f5740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6692c1f67b490f" /><Relationship Type="http://schemas.openxmlformats.org/officeDocument/2006/relationships/notesSlide" Target="/ppt/notesSlides/notesSlide2.xml" Id="Rcf695623a1c14b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5e5d95c7c141de" /><Relationship Type="http://schemas.openxmlformats.org/officeDocument/2006/relationships/notesSlide" Target="/ppt/notesSlides/notesSlide3.xml" Id="Ra4075c5ad454438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787b354c2846a4" /><Relationship Type="http://schemas.openxmlformats.org/officeDocument/2006/relationships/notesSlide" Target="/ppt/notesSlides/notesSlide4.xml" Id="Rac05e245db5f40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676d04f06405e" /><Relationship Type="http://schemas.openxmlformats.org/officeDocument/2006/relationships/image" Target="/ppt/media/image.jpeg" Id="R999e34c4a7184f89" /><Relationship Type="http://schemas.openxmlformats.org/officeDocument/2006/relationships/notesSlide" Target="/ppt/notesSlides/notesSlide5.xml" Id="R82302510593e4a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b097f6d85c4057" /><Relationship Type="http://schemas.openxmlformats.org/officeDocument/2006/relationships/notesSlide" Target="/ppt/notesSlides/notesSlide6.xml" Id="Rdf06fa6585914c3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ecf5e9e8ef4e82" /><Relationship Type="http://schemas.openxmlformats.org/officeDocument/2006/relationships/image" Target="/ppt/media/image2.png" Id="R12afcb0845a74f9e" /><Relationship Type="http://schemas.openxmlformats.org/officeDocument/2006/relationships/notesSlide" Target="/ppt/notesSlides/notesSlide7.xml" Id="R89da270c81cb48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731dabaf3d4885" /><Relationship Type="http://schemas.openxmlformats.org/officeDocument/2006/relationships/notesSlide" Target="/ppt/notesSlides/notesSlide8.xml" Id="Rcf0221cae4de41e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c7f675a454ef9" /><Relationship Type="http://schemas.openxmlformats.org/officeDocument/2006/relationships/notesSlide" Target="/ppt/notesSlides/notesSlide9.xml" Id="R11fcd58781de444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3EFD3F-BD0F-47D5-857B-6A078037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D3B"/>
          </a:solidFill>
          <a:ln xmlns:a="http://schemas.openxmlformats.org/drawingml/2006/main" w="9525">
            <a:solidFill>
              <a:srgbClr val="081D3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67109C-6DD3-4E23-99FE-E7C272BD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0C8F3"/>
                </a:solidFill>
              </a:defRPr>
            </a:pPr>
            <a:r>
              <a:rPr sz="1200" b="1">
                <a:solidFill>
                  <a:srgbClr val="70C8F3"/>
                </a:solidFill>
              </a:rPr>
              <a:t>SHOCKIS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68A90-8E14-4997-A955-17D6F5F2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4000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</a:defRPr>
            </a:pPr>
            <a:r>
              <a:rPr sz="3600" b="1">
                <a:solidFill>
                  <a:srgbClr val="FFFFFF"/>
                </a:solidFill>
              </a:rPr>
              <a:t>Website 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60B264-A64E-4B5C-B82F-4433146C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323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70C8F3"/>
                </a:solidFill>
              </a:defRPr>
            </a:pPr>
            <a:r>
              <a:rPr sz="2100" b="1">
                <a:solidFill>
                  <a:srgbClr val="70C8F3"/>
                </a:solidFill>
              </a:rPr>
              <a:t>网站架构总览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3FBBB0-88FD-419D-BA87-F4566CADC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3714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8E6F3"/>
                </a:solidFill>
              </a:defRPr>
            </a:pPr>
            <a:r>
              <a:rPr sz="1500" b="0">
                <a:solidFill>
                  <a:srgbClr val="D8E6F3"/>
                </a:solidFill>
              </a:rPr>
              <a:t>面向全球医疗器械合作伙伴的品牌官网</a:t>
            </a:r>
          </a:p>
          <a:p xmlns:a="http://schemas.openxmlformats.org/drawingml/2006/main">
            <a:pPr algn="l">
              <a:defRPr sz="1500" b="0">
                <a:solidFill>
                  <a:srgbClr val="D8E6F3"/>
                </a:solidFill>
              </a:defRPr>
            </a:pPr>
            <a:r>
              <a:rPr sz="1500" b="0">
                <a:solidFill>
                  <a:srgbClr val="D8E6F3"/>
                </a:solidFill>
              </a:rPr>
              <a:t>兼顾客户沟通与内部维护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0DF6FB-F165-480B-8735-CA42B41EE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14900"/>
            <a:ext cx="2095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1C76FD-EC87-418D-9026-190A3FF0F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62525"/>
            <a:ext cx="2095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78C9"/>
                </a:solidFill>
              </a:defRPr>
            </a:pPr>
            <a:r>
              <a:rPr sz="900" b="1">
                <a:solidFill>
                  <a:srgbClr val="1478C9"/>
                </a:solidFill>
              </a:rPr>
              <a:t>V3 · CURRENT STRUCTURE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66E56E-5159-4372-9B4A-60C3AE4F9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FC4D8"/>
                </a:solidFill>
              </a:defRPr>
            </a:pPr>
            <a:r>
              <a:rPr sz="900" b="1">
                <a:solidFill>
                  <a:srgbClr val="AFC4D8"/>
                </a:solidFill>
              </a:rPr>
              <a:t>2026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fc55b5b02b4c5f"/>
          <a:srcRect xmlns:a="http://schemas.openxmlformats.org/drawingml/2006/main" l="31210" t="0" r="312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53000" y="0"/>
            <a:ext cx="7239000" cy="685800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CF105C-C0A2-45C3-AE98-48D83136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7239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D3B">
              <a:alpha val="25098"/>
            </a:srgbClr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2201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8931EB-D0EE-4441-8853-16DBF5412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8C9"/>
                </a:solidFill>
              </a:defRPr>
            </a:pPr>
            <a:r>
              <a:rPr sz="900" b="1">
                <a:solidFill>
                  <a:srgbClr val="1478C9"/>
                </a:solidFill>
              </a:rPr>
              <a:t>EXECUTIVE 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59BD3B-EF82-46B8-ABFA-9E8380980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1D3B"/>
                </a:solidFill>
              </a:defRPr>
            </a:pPr>
            <a:r>
              <a:rPr sz="2550" b="1">
                <a:solidFill>
                  <a:srgbClr val="081D3B"/>
                </a:solidFill>
              </a:rPr>
              <a:t>一个聚焦产品、可持续扩展的 B2B 官网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12E9B0-5FE8-464F-A67A-1F15C6E6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以冲击波治疗系统为核心，用专业内容建立信任，用清晰路径承接询盘。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E16C41-C122-40EC-A638-BE9C73E2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E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EFA571-D76D-4A44-9392-ADD7D3AE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2457450" cy="31432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081D3B"/>
          </a:solidFill>
          <a:ln xmlns:a="http://schemas.openxmlformats.org/drawingml/2006/main" w="9525">
            <a:solidFill>
              <a:srgbClr val="081D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2C50028-452A-4866-B9FB-2EE92472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C8F3"/>
                </a:solidFill>
              </a:defRPr>
            </a:pPr>
            <a:r>
              <a:rPr sz="1050" b="1">
                <a:solidFill>
                  <a:srgbClr val="70C8F3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771BC7-C618-4A6D-A2D5-A36F194E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品牌定位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8352BD-07A0-4497-BC46-C486B010B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7185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Professional medical device manufacturer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5535EE-C363-49D8-A81D-8E0758662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506E"/>
          </a:solidFill>
          <a:ln xmlns:a="http://schemas.openxmlformats.org/drawingml/2006/main" w="9525">
            <a:solidFill>
              <a:srgbClr val="3450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A626B0-C5BE-45B1-B69C-B85FC9F9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C8D8E6"/>
                </a:solidFill>
              </a:defRPr>
            </a:pPr>
            <a:r>
              <a:rPr sz="1125" b="0">
                <a:solidFill>
                  <a:srgbClr val="C8D8E6"/>
                </a:solidFill>
              </a:rPr>
              <a:t>专业、可靠、全球合作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FCF533-F5CF-4B81-81A9-D7EE885A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52650"/>
            <a:ext cx="2457450" cy="31432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6434D5-02FB-4770-8CF4-C61DC04C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3622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78C9"/>
                </a:solidFill>
              </a:defRPr>
            </a:pPr>
            <a:r>
              <a:rPr sz="1050" b="1">
                <a:solidFill>
                  <a:srgbClr val="1478C9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C67512-E5EC-48AB-BF85-9E332CE03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8003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1D3B"/>
                </a:solidFill>
              </a:defRPr>
            </a:pPr>
            <a:r>
              <a:rPr sz="1950" b="1">
                <a:solidFill>
                  <a:srgbClr val="081D3B"/>
                </a:solidFill>
              </a:rPr>
              <a:t>核心产品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D40C05-D521-4F16-8918-B30E3905E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37185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4155"/>
                </a:solidFill>
              </a:defRPr>
            </a:pPr>
            <a:r>
              <a:rPr sz="1350" b="1">
                <a:solidFill>
                  <a:srgbClr val="334155"/>
                </a:solidFill>
              </a:rPr>
              <a:t>SHOCKIS ST100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4E75D9-3A4F-42A9-BC15-9ACB52A1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191000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E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4CD916F-6088-4122-82A4-DD9ED81DA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43865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冲击波治疗系统与配件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10223D-3996-4928-A0B2-ED00F6E1C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152650"/>
            <a:ext cx="2457450" cy="31432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21C251-AC85-4221-94BD-CF22EBBE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622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78C9"/>
                </a:solidFill>
              </a:defRPr>
            </a:pPr>
            <a:r>
              <a:rPr sz="1050" b="1">
                <a:solidFill>
                  <a:srgbClr val="1478C9"/>
                </a:solidFill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B68CB4-3012-4486-A413-C3C5ACEEF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8003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1D3B"/>
                </a:solidFill>
              </a:defRPr>
            </a:pPr>
            <a:r>
              <a:rPr sz="1950" b="1">
                <a:solidFill>
                  <a:srgbClr val="081D3B"/>
                </a:solidFill>
              </a:rPr>
              <a:t>目标客户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27C5FD-03F8-4231-BB66-4D2B2475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7185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4155"/>
                </a:solidFill>
              </a:defRPr>
            </a:pPr>
            <a:r>
              <a:rPr sz="1350" b="1">
                <a:solidFill>
                  <a:srgbClr val="334155"/>
                </a:solidFill>
              </a:rPr>
              <a:t>Distributors · Clinics · OEM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7B2696A-1770-4F7B-94F9-8E19D054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91000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E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99FB56-52D4-488F-835D-D79DC970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3865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经销商、医疗机构与合作伙伴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83A26E-0E74-4F43-B2E6-476AEA163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52650"/>
            <a:ext cx="2457450" cy="3143250"/>
          </a:xfrm>
          <a:prstGeom xmlns:a="http://schemas.openxmlformats.org/drawingml/2006/main" prst="roundRect">
            <a:avLst>
              <a:gd name="adj" fmla="val 3101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16CCA7-8C9F-43DE-A673-2FB05AF72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622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78C9"/>
                </a:solidFill>
              </a:defRPr>
            </a:pPr>
            <a:r>
              <a:rPr sz="1050" b="1">
                <a:solidFill>
                  <a:srgbClr val="1478C9"/>
                </a:solidFill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F20819-4E63-4501-91FB-45E6666E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003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1D3B"/>
                </a:solidFill>
              </a:defRPr>
            </a:pPr>
            <a:r>
              <a:rPr sz="1950" b="1">
                <a:solidFill>
                  <a:srgbClr val="081D3B"/>
                </a:solidFill>
              </a:rPr>
              <a:t>网站目标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74D34A-9401-4A40-B48C-30069AD3D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71850"/>
            <a:ext cx="2000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34155"/>
                </a:solidFill>
              </a:defRPr>
            </a:pPr>
            <a:r>
              <a:rPr sz="1350" b="1">
                <a:solidFill>
                  <a:srgbClr val="334155"/>
                </a:solidFill>
              </a:rPr>
              <a:t>Trust → Explore → Inquiry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6621AE-C6AA-4428-89AC-7141874CA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191000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E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A4FFB3B-86BA-4E07-9522-130F2EAC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438650"/>
            <a:ext cx="200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4748B"/>
                </a:solidFill>
              </a:defRPr>
            </a:pPr>
            <a:r>
              <a:rPr sz="1125" b="0">
                <a:solidFill>
                  <a:srgbClr val="64748B"/>
                </a:solidFill>
              </a:rPr>
              <a:t>从了解品牌到提交询盘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C61DE2-2E80-4D2C-A961-B644628E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SHOCKIS MEDICAL  ·  WEBSITE ARCHITECTURE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5BD7D8F-20FE-422E-B7D9-16B29194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504766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9563D0F-6E3A-4915-8B91-FAAD7F892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8C9"/>
                </a:solidFill>
              </a:defRPr>
            </a:pPr>
            <a:r>
              <a:rPr sz="900" b="1">
                <a:solidFill>
                  <a:srgbClr val="1478C9"/>
                </a:solidFill>
              </a:rPr>
              <a:t>INFORMATION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E707CC-2F8E-495A-AC34-AD9191976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1D3B"/>
                </a:solidFill>
              </a:defRPr>
            </a:pPr>
            <a:r>
              <a:rPr sz="2550" b="1">
                <a:solidFill>
                  <a:srgbClr val="081D3B"/>
                </a:solidFill>
              </a:rPr>
              <a:t>Website Sitemap V3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57A45B-8ED2-49DD-B474-7A399681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主导航保持简洁，内容通过产品、适应症、资源与转化页面逐层展开。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85F90C-8DDB-464F-965E-739D8BFBA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E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5E1B78-0A0F-40DA-95A2-7CEF0A1E8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466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081D3B"/>
          </a:solidFill>
          <a:ln xmlns:a="http://schemas.openxmlformats.org/drawingml/2006/main" w="9525">
            <a:solidFill>
              <a:srgbClr val="081D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1CD125-BDC1-4FD1-92A0-7BF947F7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257425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HOME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923778-FA0A-45D2-BF1C-7DA225B82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095500"/>
            <a:ext cx="1466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1F12C1-B918-45B9-9F0F-5B18BB3C7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257425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1D3B"/>
                </a:solidFill>
              </a:defRPr>
            </a:pPr>
            <a:r>
              <a:rPr sz="1125" b="1">
                <a:solidFill>
                  <a:srgbClr val="081D3B"/>
                </a:solidFill>
              </a:rPr>
              <a:t>PRODUCTS</a:t>
            </a:r>
          </a:p>
          <a:p xmlns:a="http://schemas.openxmlformats.org/drawingml/2006/main">
            <a:pPr algn="ctr">
              <a:defRPr sz="1125" b="1">
                <a:solidFill>
                  <a:srgbClr val="081D3B"/>
                </a:solidFill>
              </a:defRPr>
            </a:pPr>
            <a:r>
              <a:rPr sz="1125" b="1">
                <a:solidFill>
                  <a:srgbClr val="081D3B"/>
                </a:solidFill>
              </a:rPr>
              <a:t>/products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7F37B8-4525-46B9-9329-44E920FCB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95500"/>
            <a:ext cx="1466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F03935-A506-4AFB-AFE0-766EECDA2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57425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1D3B"/>
                </a:solidFill>
              </a:defRPr>
            </a:pPr>
            <a:r>
              <a:rPr sz="1125" b="1">
                <a:solidFill>
                  <a:srgbClr val="081D3B"/>
                </a:solidFill>
              </a:rPr>
              <a:t>INDICATIONS</a:t>
            </a:r>
          </a:p>
          <a:p xmlns:a="http://schemas.openxmlformats.org/drawingml/2006/main">
            <a:pPr algn="ctr">
              <a:defRPr sz="1125" b="1">
                <a:solidFill>
                  <a:srgbClr val="081D3B"/>
                </a:solidFill>
              </a:defRPr>
            </a:pPr>
            <a:r>
              <a:rPr sz="1125" b="1">
                <a:solidFill>
                  <a:srgbClr val="081D3B"/>
                </a:solidFill>
              </a:rPr>
              <a:t>/indications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950A7E-3697-4551-A405-CF1A5870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095500"/>
            <a:ext cx="1466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4D769B5-5B02-41D1-8FC8-32BA8B5A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257425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1D3B"/>
                </a:solidFill>
              </a:defRPr>
            </a:pPr>
            <a:r>
              <a:rPr sz="1125" b="1">
                <a:solidFill>
                  <a:srgbClr val="081D3B"/>
                </a:solidFill>
              </a:rPr>
              <a:t>RESOURCES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EC561C-7943-40A0-A309-ABCB48C5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095500"/>
            <a:ext cx="1466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E56016-C746-45D0-97E8-306E8134A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57425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1D3B"/>
                </a:solidFill>
              </a:defRPr>
            </a:pPr>
            <a:r>
              <a:rPr sz="1125" b="1">
                <a:solidFill>
                  <a:srgbClr val="081D3B"/>
                </a:solidFill>
              </a:rPr>
              <a:t>ABOUT</a:t>
            </a:r>
          </a:p>
          <a:p xmlns:a="http://schemas.openxmlformats.org/drawingml/2006/main">
            <a:pPr algn="ctr">
              <a:defRPr sz="1125" b="1">
                <a:solidFill>
                  <a:srgbClr val="081D3B"/>
                </a:solidFill>
              </a:defRPr>
            </a:pPr>
            <a:r>
              <a:rPr sz="1125" b="1">
                <a:solidFill>
                  <a:srgbClr val="081D3B"/>
                </a:solidFill>
              </a:rPr>
              <a:t>/about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FDBA9E-4F6A-43F0-80FC-8C8E6A4D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095500"/>
            <a:ext cx="1466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CD85C6-CA0D-4350-9796-67D884D9A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257425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1D3B"/>
                </a:solidFill>
              </a:defRPr>
            </a:pPr>
            <a:r>
              <a:rPr sz="1125" b="1">
                <a:solidFill>
                  <a:srgbClr val="081D3B"/>
                </a:solidFill>
              </a:rPr>
              <a:t>CONTACT</a:t>
            </a:r>
          </a:p>
          <a:p xmlns:a="http://schemas.openxmlformats.org/drawingml/2006/main">
            <a:pPr algn="ctr">
              <a:defRPr sz="1125" b="1">
                <a:solidFill>
                  <a:srgbClr val="081D3B"/>
                </a:solidFill>
              </a:defRPr>
            </a:pPr>
            <a:r>
              <a:rPr sz="1125" b="1">
                <a:solidFill>
                  <a:srgbClr val="081D3B"/>
                </a:solidFill>
              </a:rPr>
              <a:t>/contact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39C5CF-853E-469F-A1D5-CD538F7C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095500"/>
            <a:ext cx="14668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E531B3-8816-4A73-B599-F17E60240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2257425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81D3B"/>
                </a:solidFill>
              </a:defRPr>
            </a:pPr>
            <a:r>
              <a:rPr sz="1125" b="1">
                <a:solidFill>
                  <a:srgbClr val="081D3B"/>
                </a:solidFill>
              </a:rPr>
              <a:t>SHOP</a:t>
            </a:r>
          </a:p>
          <a:p xmlns:a="http://schemas.openxmlformats.org/drawingml/2006/main">
            <a:pPr algn="ctr">
              <a:defRPr sz="1125" b="1">
                <a:solidFill>
                  <a:srgbClr val="081D3B"/>
                </a:solidFill>
              </a:defRPr>
            </a:pPr>
            <a:r>
              <a:rPr sz="1125" b="1">
                <a:solidFill>
                  <a:srgbClr val="081D3B"/>
                </a:solidFill>
              </a:rPr>
              <a:t>/shop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48DC62-2D95-4C34-83CB-0B23C0DD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190875"/>
            <a:ext cx="1466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4C8352-509D-43DF-A587-54B8D5F9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324225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34155"/>
                </a:solidFill>
              </a:defRPr>
            </a:pPr>
            <a:r>
              <a:rPr sz="1050" b="1">
                <a:solidFill>
                  <a:srgbClr val="334155"/>
                </a:solidFill>
              </a:rPr>
              <a:t>Shockwave Therapy System</a:t>
            </a:r>
          </a:p>
          <a:p xmlns:a="http://schemas.openxmlformats.org/drawingml/2006/main">
            <a:pPr algn="ctr">
              <a:defRPr sz="1050" b="1">
                <a:solidFill>
                  <a:srgbClr val="334155"/>
                </a:solidFill>
              </a:defRPr>
            </a:pPr>
            <a:r>
              <a:rPr sz="1050" b="1">
                <a:solidFill>
                  <a:srgbClr val="334155"/>
                </a:solidFill>
              </a:rPr>
              <a:t>/product · /products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91ED7A2-852C-4698-B3C7-5FE12484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143375"/>
            <a:ext cx="1466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EB6C7A-B902-4F42-901C-5CC87255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276725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34155"/>
                </a:solidFill>
              </a:defRPr>
            </a:pPr>
            <a:r>
              <a:rPr sz="1050" b="1">
                <a:solidFill>
                  <a:srgbClr val="334155"/>
                </a:solidFill>
              </a:rPr>
              <a:t>Accessories</a:t>
            </a:r>
          </a:p>
          <a:p xmlns:a="http://schemas.openxmlformats.org/drawingml/2006/main">
            <a:pPr algn="ctr">
              <a:defRPr sz="1050" b="1">
                <a:solidFill>
                  <a:srgbClr val="334155"/>
                </a:solidFill>
              </a:defRPr>
            </a:pPr>
            <a:r>
              <a:rPr sz="1050" b="1">
                <a:solidFill>
                  <a:srgbClr val="334155"/>
                </a:solidFill>
              </a:rPr>
              <a:t>/accessories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E07235-D5FE-416C-A0DD-60D5D9D1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90875"/>
            <a:ext cx="1466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C518A4-FE6B-4245-9055-29E4F5CE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324225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34155"/>
                </a:solidFill>
              </a:defRPr>
            </a:pPr>
            <a:r>
              <a:rPr sz="1050" b="1">
                <a:solidFill>
                  <a:srgbClr val="334155"/>
                </a:solidFill>
              </a:rPr>
              <a:t>6 Condition Pages</a:t>
            </a:r>
          </a:p>
          <a:p xmlns:a="http://schemas.openxmlformats.org/drawingml/2006/main">
            <a:pPr algn="ctr">
              <a:defRPr sz="1050" b="1">
                <a:solidFill>
                  <a:srgbClr val="334155"/>
                </a:solidFill>
              </a:defRPr>
            </a:pPr>
            <a:r>
              <a:rPr sz="1050" b="1">
                <a:solidFill>
                  <a:srgbClr val="334155"/>
                </a:solidFill>
              </a:rPr>
              <a:t>/indications/[slug]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99F5602-F1E2-4F5B-85B0-EF2A2C02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90875"/>
            <a:ext cx="1466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A3EEDB-575F-4F5F-A189-14283109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24225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34155"/>
                </a:solidFill>
              </a:defRPr>
            </a:pPr>
            <a:r>
              <a:rPr sz="1050" b="1">
                <a:solidFill>
                  <a:srgbClr val="334155"/>
                </a:solidFill>
              </a:rPr>
              <a:t>FAQ · Downloads · Blog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966E93-9989-4258-A4D3-3FAE8647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90875"/>
            <a:ext cx="1466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FA6707E-443D-4BD2-B41C-8A3A5D24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24225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34155"/>
                </a:solidFill>
              </a:defRPr>
            </a:pPr>
            <a:r>
              <a:rPr sz="1050" b="1">
                <a:solidFill>
                  <a:srgbClr val="334155"/>
                </a:solidFill>
              </a:rPr>
              <a:t>Request Quote</a:t>
            </a:r>
          </a:p>
          <a:p xmlns:a="http://schemas.openxmlformats.org/drawingml/2006/main">
            <a:pPr algn="ctr">
              <a:defRPr sz="1050" b="1">
                <a:solidFill>
                  <a:srgbClr val="334155"/>
                </a:solidFill>
              </a:defRPr>
            </a:pPr>
            <a:r>
              <a:rPr sz="1050" b="1">
                <a:solidFill>
                  <a:srgbClr val="334155"/>
                </a:solidFill>
              </a:rPr>
              <a:t>/request-quote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5D8EA1-1498-4A02-8789-EAE68A882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190875"/>
            <a:ext cx="14668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EB7909F-B820-4229-8400-B27D81E5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0350" y="3324225"/>
            <a:ext cx="1314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334155"/>
                </a:solidFill>
              </a:defRPr>
            </a:pPr>
            <a:r>
              <a:rPr sz="1050" b="1">
                <a:solidFill>
                  <a:srgbClr val="334155"/>
                </a:solidFill>
              </a:rPr>
              <a:t>Product Catalog</a:t>
            </a:r>
          </a:p>
          <a:p xmlns:a="http://schemas.openxmlformats.org/drawingml/2006/main">
            <a:pPr algn="ctr">
              <a:defRPr sz="1050" b="1">
                <a:solidFill>
                  <a:srgbClr val="334155"/>
                </a:solidFill>
              </a:defRPr>
            </a:pPr>
            <a:r>
              <a:rPr sz="1050" b="1">
                <a:solidFill>
                  <a:srgbClr val="334155"/>
                </a:solidFill>
              </a:rPr>
              <a:t>/shop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F817FDA-87FE-48CB-A609-F82DAB7F2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8C9"/>
                </a:solidFill>
              </a:defRPr>
            </a:pPr>
            <a:r>
              <a:rPr sz="900" b="1">
                <a:solidFill>
                  <a:srgbClr val="1478C9"/>
                </a:solidFill>
              </a:rPr>
              <a:t>LEGAL &amp; SUPPORT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2C76DEE-7383-4F4D-A8A4-E981298A7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334155"/>
                </a:solidFill>
              </a:defRPr>
            </a:pPr>
            <a:r>
              <a:rPr sz="1200" b="0">
                <a:solidFill>
                  <a:srgbClr val="334155"/>
                </a:solidFill>
              </a:rPr>
              <a:t>Privacy Policy  ·  Terms of Service  ·  Shipping &amp; Returns  ·  Refund Policy  ·  Warranty Policy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364744-972E-4729-8B4E-5BD7FAF2E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SHOCKIS MEDICAL  ·  WEBSITE ARCHITECTURE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A331F6-1D9D-47AC-A026-671E2D58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768331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5B0CED0-48FE-42F5-9F68-A2F154E83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8C9"/>
                </a:solidFill>
              </a:defRPr>
            </a:pPr>
            <a:r>
              <a:rPr sz="900" b="1">
                <a:solidFill>
                  <a:srgbClr val="1478C9"/>
                </a:solidFill>
              </a:rPr>
              <a:t>PAGE PORTFOLIO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BA2372-B4B0-427A-A148-75AF34F3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1D3B"/>
                </a:solidFill>
              </a:defRPr>
            </a:pPr>
            <a:r>
              <a:rPr sz="2550" b="1">
                <a:solidFill>
                  <a:srgbClr val="081D3B"/>
                </a:solidFill>
              </a:rPr>
              <a:t>现有页面与业务角色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38C691-A0F8-4779-978D-E3CB6008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每个页面只承担一个核心任务，避免首页或产品页信息过载。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3A6F2-F50C-4A1C-897D-9ADA459B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E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0A03A0-BFE0-4468-ABC3-C20A0BB0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193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8C9"/>
                </a:solidFill>
              </a:defRPr>
            </a:pPr>
            <a:r>
              <a:rPr sz="900" b="1">
                <a:solidFill>
                  <a:srgbClr val="1478C9"/>
                </a:solidFill>
              </a:rPr>
              <a:t>PAGE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4409CE-B377-41A9-88E0-5DC2121B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0193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8C9"/>
                </a:solidFill>
              </a:defRPr>
            </a:pPr>
            <a:r>
              <a:rPr sz="900" b="1">
                <a:solidFill>
                  <a:srgbClr val="1478C9"/>
                </a:solidFill>
              </a:rPr>
              <a:t>ROUTE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6F95BB-76D5-49B9-85DE-6B367A49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19300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8C9"/>
                </a:solidFill>
              </a:defRPr>
            </a:pPr>
            <a:r>
              <a:rPr sz="900" b="1">
                <a:solidFill>
                  <a:srgbClr val="1478C9"/>
                </a:solidFill>
              </a:rPr>
              <a:t>PRIMARY ROLE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DE3B7F-1AE3-445D-A857-B0790ACB3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11087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B60943-DA26-454E-AA4D-C0738B34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1D3B"/>
                </a:solidFill>
              </a:defRPr>
            </a:pPr>
            <a:r>
              <a:rPr sz="1125" b="1">
                <a:solidFill>
                  <a:srgbClr val="081D3B"/>
                </a:solidFill>
              </a:rPr>
              <a:t>Home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E6D53F-BBC7-4380-A4A1-FD610F47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/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B879F7-AA64-4A3C-BE6A-EA3361ED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62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品牌第一印象、合规能力、核心产品、配件与评价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22D252-4D7F-4E37-90EB-707ECCBAB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1D3B"/>
                </a:solidFill>
              </a:defRPr>
            </a:pPr>
            <a:r>
              <a:rPr sz="1125" b="1">
                <a:solidFill>
                  <a:srgbClr val="081D3B"/>
                </a:solidFill>
              </a:rPr>
              <a:t>Products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C5E761-8315-480D-B9D8-691A5890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838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/products · /product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E53D05-EE74-474F-88D8-3E0A694A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384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ST100 产品详情、图片画廊、参数、FAQ 与询盘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59B74D-F1AD-40E2-8FC3-8F264FEF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E48861-334C-4FB3-975C-6286D63B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1D3B"/>
                </a:solidFill>
              </a:defRPr>
            </a:pPr>
            <a:r>
              <a:rPr sz="1125" b="1">
                <a:solidFill>
                  <a:srgbClr val="081D3B"/>
                </a:solidFill>
              </a:rPr>
              <a:t>Accessories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0FFAB0-53CD-465E-82CE-8AD0317D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314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/accessories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E48F26-8DF0-460D-A6D1-5C006760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147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配件分类框架与 Shop 入口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857C32-FE89-4343-AA99-CA14B4ED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1D3B"/>
                </a:solidFill>
              </a:defRPr>
            </a:pPr>
            <a:r>
              <a:rPr sz="1125" b="1">
                <a:solidFill>
                  <a:srgbClr val="081D3B"/>
                </a:solidFill>
              </a:rPr>
              <a:t>Indications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694821-6DEF-4497-B70F-06B5CC73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90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/indications · /indications/[slug]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0D20AF-5FC7-44DF-AA13-7070AFBC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909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临床应用入口、身体区域与 SEO 子页面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A658DD-AFD2-4EA2-9219-9F1F2515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0"/>
            <a:ext cx="11087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76A0EB-910F-46FC-8277-48ABB9C4F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1D3B"/>
                </a:solidFill>
              </a:defRPr>
            </a:pPr>
            <a:r>
              <a:rPr sz="1125" b="1">
                <a:solidFill>
                  <a:srgbClr val="081D3B"/>
                </a:solidFill>
              </a:rPr>
              <a:t>About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00A208-41B0-42A1-8A55-BBC5E0A6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267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/about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C074FA-85EE-4894-AF06-6483724A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672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品牌故事、使命、愿景与支持 CTA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C5D8C6-2BBD-4A88-AD64-068D993B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434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1D3B"/>
                </a:solidFill>
              </a:defRPr>
            </a:pPr>
            <a:r>
              <a:rPr sz="1125" b="1">
                <a:solidFill>
                  <a:srgbClr val="081D3B"/>
                </a:solidFill>
              </a:rPr>
              <a:t>Contact / Quote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0B9C8A-8FF0-4E6D-B335-956B7FC0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743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/contact · /request-quote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B140D06-F7E0-4F12-82CE-7301EDCEB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7434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业务询盘、技术支持与报价需求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391C910-F146-4464-9FEE-D9B0148D6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0"/>
            <a:ext cx="11087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78086F-277F-4985-B622-E4DE84C70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19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1D3B"/>
                </a:solidFill>
              </a:defRPr>
            </a:pPr>
            <a:r>
              <a:rPr sz="1125" b="1">
                <a:solidFill>
                  <a:srgbClr val="081D3B"/>
                </a:solidFill>
              </a:rPr>
              <a:t>Shop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8860DC-7AF8-4335-8B2D-1B2506FA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19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/shop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AC219B-DB32-4902-A915-F13A864F8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1970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B2B 产品目录，不展示价格或购物车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D7A33B-4AAA-42D0-A0D5-0D2857AB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959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81D3B"/>
                </a:solidFill>
              </a:defRPr>
            </a:pPr>
            <a:r>
              <a:rPr sz="1125" b="1">
                <a:solidFill>
                  <a:srgbClr val="081D3B"/>
                </a:solidFill>
              </a:rPr>
              <a:t>Resources / Legal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9269FB-2001-401D-8975-5B27095D4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6959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/faq · policies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E0DEC3A-BB50-4DC1-AA0B-EB185A458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695950"/>
            <a:ext cx="523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内容支持、下载与合规基础页面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0C2FBA-B10C-4221-8353-E04B0C28C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SHOCKIS MEDICAL  ·  WEBSITE ARCHITECTURE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71A4C67-CCDD-4176-B3AF-1E3B3328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437576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3A25180-EB92-4C1A-B3E5-B6AA914B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8C9"/>
                </a:solidFill>
              </a:defRPr>
            </a:pPr>
            <a:r>
              <a:rPr sz="900" b="1">
                <a:solidFill>
                  <a:srgbClr val="1478C9"/>
                </a:solidFill>
              </a:rPr>
              <a:t>HOMEPAGE ANATOMY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B3F94-AB93-4BDF-BD75-1BD02D9C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1D3B"/>
                </a:solidFill>
              </a:defRPr>
            </a:pPr>
            <a:r>
              <a:rPr sz="2550" b="1">
                <a:solidFill>
                  <a:srgbClr val="081D3B"/>
                </a:solidFill>
              </a:rPr>
              <a:t>首页是一条快速信任路径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8F5C8B-D9A4-4F0D-A466-350FC4856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Overview first：让访问者快速理解品牌、产品与下一步行动。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CA0383-84F3-4A29-94B3-F4DC3B523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E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5D3CA9-6977-41C5-A1A3-E9D5F026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66950"/>
            <a:ext cx="1657350" cy="18859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081D3B"/>
          </a:solidFill>
          <a:ln xmlns:a="http://schemas.openxmlformats.org/drawingml/2006/main" w="9525">
            <a:solidFill>
              <a:srgbClr val="081D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018DC9-9E44-41CB-A1A8-155F06F8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0C8F3"/>
                </a:solidFill>
              </a:defRPr>
            </a:pPr>
            <a:r>
              <a:rPr sz="900" b="1">
                <a:solidFill>
                  <a:srgbClr val="70C8F3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59C234-2876-41D3-A986-535ABA87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HERO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913D49-B141-406C-9CDB-54E34FEA8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5E4F0"/>
                </a:solidFill>
              </a:defRPr>
            </a:pPr>
            <a:r>
              <a:rPr sz="1050" b="0">
                <a:solidFill>
                  <a:srgbClr val="D5E4F0"/>
                </a:solidFill>
              </a:rPr>
              <a:t>定位 + 单一 CTA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B3ECD3-ED42-47BA-A72E-C6552A3E7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0480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78C9"/>
                </a:solidFill>
              </a:defRPr>
            </a:pPr>
            <a:r>
              <a:rPr sz="1800" b="1">
                <a:solidFill>
                  <a:srgbClr val="1478C9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9C49D0-F528-458A-9D0F-F6D259D9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2266950"/>
            <a:ext cx="1657350" cy="18859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449BCA-C9E6-4F39-8477-70E739C03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4384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8C9"/>
                </a:solidFill>
              </a:defRPr>
            </a:pPr>
            <a:r>
              <a:rPr sz="900" b="1">
                <a:solidFill>
                  <a:srgbClr val="1478C9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450685-6BF8-4B75-A92E-6F907C74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857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D3B"/>
                </a:solidFill>
              </a:defRPr>
            </a:pPr>
            <a:r>
              <a:rPr sz="1275" b="1">
                <a:solidFill>
                  <a:srgbClr val="081D3B"/>
                </a:solidFill>
              </a:rPr>
              <a:t>COMPLIANCE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C617D9-AECA-4E7A-A7C2-09AEE4006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3147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FDA · FSA/HSA · OEM/ODM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0720C4-DADD-496C-B7F1-641D2B830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0480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78C9"/>
                </a:solidFill>
              </a:defRPr>
            </a:pPr>
            <a:r>
              <a:rPr sz="1800" b="1">
                <a:solidFill>
                  <a:srgbClr val="1478C9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EA1833-3A7B-4A3B-A435-13A31D73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266950"/>
            <a:ext cx="1657350" cy="18859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0CADB1-4DF2-4ECA-B6BE-6BE457D8D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384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8C9"/>
                </a:solidFill>
              </a:defRPr>
            </a:pPr>
            <a:r>
              <a:rPr sz="900" b="1">
                <a:solidFill>
                  <a:srgbClr val="1478C9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9C5F42-B306-4D04-B02E-FCE425082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857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D3B"/>
                </a:solidFill>
              </a:defRPr>
            </a:pPr>
            <a:r>
              <a:rPr sz="1275" b="1">
                <a:solidFill>
                  <a:srgbClr val="081D3B"/>
                </a:solidFill>
              </a:rPr>
              <a:t>CORE PRODUCT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55DBAE-B758-49BA-9904-AF266D01C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3147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主产品 + 详情入口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9C91F9-9389-4479-94BA-C08F3FE99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480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78C9"/>
                </a:solidFill>
              </a:defRPr>
            </a:pPr>
            <a:r>
              <a:rPr sz="1800" b="1">
                <a:solidFill>
                  <a:srgbClr val="1478C9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A702E8-5E27-4DCE-93AF-2D0A52E2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66950"/>
            <a:ext cx="1657350" cy="18859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2D2AE4-B8A7-4BE3-A6AA-9B5F5E6B4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384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8C9"/>
                </a:solidFill>
              </a:defRPr>
            </a:pPr>
            <a:r>
              <a:rPr sz="900" b="1">
                <a:solidFill>
                  <a:srgbClr val="1478C9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B48972-E6FD-4FF4-A5E7-7435855E7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857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D3B"/>
                </a:solidFill>
              </a:defRPr>
            </a:pPr>
            <a:r>
              <a:rPr sz="1275" b="1">
                <a:solidFill>
                  <a:srgbClr val="081D3B"/>
                </a:solidFill>
              </a:rPr>
              <a:t>ACCESSORIES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0909CF-518D-4116-A076-4AF61BA4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3147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配件能力 + 分类入口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6475744-7F0E-4B2B-B4C5-C4D894422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0480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78C9"/>
                </a:solidFill>
              </a:defRPr>
            </a:pPr>
            <a:r>
              <a:rPr sz="1800" b="1">
                <a:solidFill>
                  <a:srgbClr val="1478C9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BBCC7C-46B8-4960-8D10-D3E01A29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266950"/>
            <a:ext cx="1657350" cy="18859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4915BC6-BD6D-4D4E-BFDC-D83F22B7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4384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8C9"/>
                </a:solidFill>
              </a:defRPr>
            </a:pPr>
            <a:r>
              <a:rPr sz="900" b="1">
                <a:solidFill>
                  <a:srgbClr val="1478C9"/>
                </a:solidFill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481E9E-4BDC-4218-BEDC-0563A9E7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57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D3B"/>
                </a:solidFill>
              </a:defRPr>
            </a:pPr>
            <a:r>
              <a:rPr sz="1275" b="1">
                <a:solidFill>
                  <a:srgbClr val="081D3B"/>
                </a:solidFill>
              </a:rPr>
              <a:t>REVIEWS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1DB297-5069-4871-A1DC-471D1AA1D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3147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专业用户评价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9D621A-953C-4847-B46A-DF1E7184E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048000"/>
            <a:ext cx="228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478C9"/>
                </a:solidFill>
              </a:defRPr>
            </a:pPr>
            <a:r>
              <a:rPr sz="1800" b="1">
                <a:solidFill>
                  <a:srgbClr val="1478C9"/>
                </a:solidFill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024C81-8457-49DF-9E6C-ABE515BAA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266950"/>
            <a:ext cx="1657350" cy="1885950"/>
          </a:xfrm>
          <a:prstGeom xmlns:a="http://schemas.openxmlformats.org/drawingml/2006/main" prst="roundRect">
            <a:avLst>
              <a:gd name="adj" fmla="val 4598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BD102D-1DE2-45B8-B0A2-11B233F64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4384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8C9"/>
                </a:solidFill>
              </a:defRPr>
            </a:pPr>
            <a:r>
              <a:rPr sz="900" b="1">
                <a:solidFill>
                  <a:srgbClr val="1478C9"/>
                </a:solidFill>
              </a:rPr>
              <a:t>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23127A-FC80-493B-B2FE-C50ED7EE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2857500"/>
            <a:ext cx="1314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81D3B"/>
                </a:solidFill>
              </a:defRPr>
            </a:pPr>
            <a:r>
              <a:rPr sz="1275" b="1">
                <a:solidFill>
                  <a:srgbClr val="081D3B"/>
                </a:solidFill>
              </a:rPr>
              <a:t>FOOTER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2E21D0-CDBF-4FD2-B514-F4C33BD93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314700"/>
            <a:ext cx="13144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导航 · 订阅 · 法律</a:t>
            </a:r>
          </a:p>
        </p:txBody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9e34c4a7184f89"/>
          <a:stretch xmlns:a="http://schemas.openxmlformats.org/drawingml/2006/main"/>
        </p:blipFill>
        <p:spPr>
          <a:xfrm xmlns:a="http://schemas.openxmlformats.org/drawingml/2006/main">
            <a:off x="8784950" y="4438650"/>
            <a:ext cx="1575349" cy="1562100"/>
          </a:xfrm>
          <a:prstGeom xmlns:a="http://schemas.openxmlformats.org/drawingml/2006/main" prst="rect">
            <a:avLst/>
          </a:prstGeom>
        </p:spPr>
      </p:pic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B222D29-B5A5-426C-9B0C-AE0F13B83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81D3B"/>
                </a:solidFill>
              </a:defRPr>
            </a:pPr>
            <a:r>
              <a:rPr sz="2100" b="1">
                <a:solidFill>
                  <a:srgbClr val="081D3B"/>
                </a:solidFill>
              </a:rPr>
              <a:t>HOME = OVERVIEW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805232-7428-4AB9-84CF-FAA9224D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34155"/>
                </a:solidFill>
              </a:defRPr>
            </a:pPr>
            <a:r>
              <a:rPr sz="1350" b="0">
                <a:solidFill>
                  <a:srgbClr val="334155"/>
                </a:solidFill>
              </a:rPr>
              <a:t>更少文字 · 更清晰层级 · 更明确跳转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64218AE-F910-449E-9D5F-BD429B2A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SHOCKIS MEDICAL  ·  WEBSITE ARCHITECTURE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0428E61-C9D8-49E4-A91D-52D8F137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6212024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8228FE-A2C4-458A-8132-89D1A9437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8C9"/>
                </a:solidFill>
              </a:defRPr>
            </a:pPr>
            <a:r>
              <a:rPr sz="900" b="1">
                <a:solidFill>
                  <a:srgbClr val="1478C9"/>
                </a:solidFill>
              </a:rPr>
              <a:t>B2B CONVERSION JOURNEY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B3A10A-0A75-4BBA-9585-4AB1F72B1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1D3B"/>
                </a:solidFill>
              </a:defRPr>
            </a:pPr>
            <a:r>
              <a:rPr sz="2550" b="1">
                <a:solidFill>
                  <a:srgbClr val="081D3B"/>
                </a:solidFill>
              </a:rPr>
              <a:t>从发现产品到建立合作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E19A66-B7E2-4159-A5DF-A04E5300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页面之间形成明确的采购与合作路径，而不是传统电商结账流程。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C8FA61-191F-4DD0-BD7C-9678AE464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E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D50CE6-4252-42BB-A286-6CE71E7C3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2286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3665DB-9305-47CA-BAF6-D1626DF0E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24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8C9"/>
                </a:solidFill>
              </a:defRPr>
            </a:pPr>
            <a:r>
              <a:rPr sz="900" b="1">
                <a:solidFill>
                  <a:srgbClr val="1478C9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88BF57-2BF6-4959-A350-2812B821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05125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1D3B"/>
                </a:solidFill>
              </a:defRPr>
            </a:pPr>
            <a:r>
              <a:rPr sz="1650" b="1">
                <a:solidFill>
                  <a:srgbClr val="081D3B"/>
                </a:solidFill>
              </a:rPr>
              <a:t>DISCOVER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B96790-DDF9-4647-89C8-371139FDF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05175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Home · Shop · Indications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05FFE8-EAD7-4F53-AA18-F95261D3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575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478C9"/>
                </a:solidFill>
              </a:defRPr>
            </a:pPr>
            <a:r>
              <a:rPr sz="2100" b="1">
                <a:solidFill>
                  <a:srgbClr val="1478C9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8642FE-CD52-410A-8EF2-DDD52CEB7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333625"/>
            <a:ext cx="2286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700E8A-3C59-4F66-BEA5-4C74B00E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524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8C9"/>
                </a:solidFill>
              </a:defRPr>
            </a:pPr>
            <a:r>
              <a:rPr sz="900" b="1">
                <a:solidFill>
                  <a:srgbClr val="1478C9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4569F2-A182-4549-BC1F-8BBF8AF0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905125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1D3B"/>
                </a:solidFill>
              </a:defRPr>
            </a:pPr>
            <a:r>
              <a:rPr sz="1650" b="1">
                <a:solidFill>
                  <a:srgbClr val="081D3B"/>
                </a:solidFill>
              </a:rPr>
              <a:t>EVALUATE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0473A8-76E1-4297-A3D1-BF36652EE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305175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Product Detail · Applications · FAQ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FBA142-628F-4F78-A4DC-5C4A554E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8575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478C9"/>
                </a:solidFill>
              </a:defRPr>
            </a:pPr>
            <a:r>
              <a:rPr sz="2100" b="1">
                <a:solidFill>
                  <a:srgbClr val="1478C9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909B04-8B55-4D5E-88F8-59F43039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33625"/>
            <a:ext cx="2286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92D111-C313-4112-93CF-B83E4D73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24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8C9"/>
                </a:solidFill>
              </a:defRPr>
            </a:pPr>
            <a:r>
              <a:rPr sz="900" b="1">
                <a:solidFill>
                  <a:srgbClr val="1478C9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C23FDF-E9C2-47F4-BEF5-786240927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905125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81D3B"/>
                </a:solidFill>
              </a:defRPr>
            </a:pPr>
            <a:r>
              <a:rPr sz="1650" b="1">
                <a:solidFill>
                  <a:srgbClr val="081D3B"/>
                </a:solidFill>
              </a:rPr>
              <a:t>TRUST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EDDFEE-611F-42E1-8826-9A85E88A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305175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Compliance · About · Reviews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8EDBBF-CB73-4425-BA9D-AE3F6CB68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57500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478C9"/>
                </a:solidFill>
              </a:defRPr>
            </a:pPr>
            <a:r>
              <a:rPr sz="2100" b="1">
                <a:solidFill>
                  <a:srgbClr val="1478C9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4B21DD-8C0F-4D83-AAAA-5DCF02423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333625"/>
            <a:ext cx="22860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81D3B"/>
          </a:solidFill>
          <a:ln xmlns:a="http://schemas.openxmlformats.org/drawingml/2006/main" w="9525">
            <a:solidFill>
              <a:srgbClr val="081D3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C41169F-690E-45BD-896F-77D3DFACF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52412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0C8F3"/>
                </a:solidFill>
              </a:defRPr>
            </a:pPr>
            <a:r>
              <a:rPr sz="900" b="1">
                <a:solidFill>
                  <a:srgbClr val="70C8F3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3B51E4-6CEE-4821-BA38-F4091C4C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905125"/>
            <a:ext cx="1866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CONVERT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8630FB-35E0-4B75-979A-34AF2BD7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305175"/>
            <a:ext cx="186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D6E3EF"/>
                </a:solidFill>
              </a:defRPr>
            </a:pPr>
            <a:r>
              <a:rPr sz="1050" b="0">
                <a:solidFill>
                  <a:srgbClr val="D6E3EF"/>
                </a:solidFill>
              </a:rPr>
              <a:t>Contact · Request Quote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6B37D4-09D6-4418-8FAD-1D41E4F8D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514850"/>
            <a:ext cx="8572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495441-FA49-40CE-8BD5-D8D08336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053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8C9"/>
                </a:solidFill>
              </a:defRPr>
            </a:pPr>
            <a:r>
              <a:rPr sz="1125" b="1">
                <a:solidFill>
                  <a:srgbClr val="1478C9"/>
                </a:solidFill>
              </a:rPr>
              <a:t>核心转化原则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01D7AE4-77E0-4215-8448-030CD0826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95825"/>
            <a:ext cx="628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1D3B"/>
                </a:solidFill>
              </a:defRPr>
            </a:pPr>
            <a:r>
              <a:rPr sz="1200" b="1">
                <a:solidFill>
                  <a:srgbClr val="081D3B"/>
                </a:solidFill>
              </a:rPr>
              <a:t>不展示价格  ·  不设置购物车  ·  用专业信息降低询盘门槛  ·  统一导向 Contact / Request Quote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001FF8-770A-409E-AE0F-BC5E3AF4A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SHOCKIS MEDICAL  ·  WEBSITE ARCHITECTURE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EB1374-D544-436A-A60B-34FD1B1D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904793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57B125-24E3-488D-AC76-31698C08E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8C9"/>
                </a:solidFill>
              </a:defRPr>
            </a:pPr>
            <a:r>
              <a:rPr sz="900" b="1">
                <a:solidFill>
                  <a:srgbClr val="1478C9"/>
                </a:solidFill>
              </a:rPr>
              <a:t>CLINICAL CONTENT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566D5-1B9B-455A-B694-D7C352A9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1D3B"/>
                </a:solidFill>
              </a:defRPr>
            </a:pPr>
            <a:r>
              <a:rPr sz="2550" b="1">
                <a:solidFill>
                  <a:srgbClr val="081D3B"/>
                </a:solidFill>
              </a:rPr>
              <a:t>Indications：可扩展的临床内容中心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EBC1DF-CE3E-4E21-A27A-E42DEC4F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总入口负责浏览，详情页使用统一模板，支持未来 SEO / AEO / GEO 扩展。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3604CE-AB0D-496A-881F-491694C2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E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afcb0845a74f9e"/>
          <a:stretch xmlns:a="http://schemas.openxmlformats.org/drawingml/2006/main"/>
        </p:blipFill>
        <p:spPr>
          <a:xfrm xmlns:a="http://schemas.openxmlformats.org/drawingml/2006/main">
            <a:off x="1054100" y="2095500"/>
            <a:ext cx="2540000" cy="3810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998E9-06BC-491B-887F-F026ADA07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0955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81D3B"/>
                </a:solidFill>
              </a:defRPr>
            </a:pPr>
            <a:r>
              <a:rPr sz="1950" b="1">
                <a:solidFill>
                  <a:srgbClr val="081D3B"/>
                </a:solidFill>
              </a:rPr>
              <a:t>/indications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9D456-01B6-4F66-88EB-E17E763F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076450"/>
            <a:ext cx="1238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EE8D3E-4FFB-4761-A9C3-2A75C6431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12407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478C9"/>
                </a:solidFill>
              </a:defRPr>
            </a:pPr>
            <a:r>
              <a:rPr sz="900" b="1">
                <a:solidFill>
                  <a:srgbClr val="1478C9"/>
                </a:solidFill>
              </a:rPr>
              <a:t>HUB PAGE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2D5E57-0B45-4733-B51B-A9BD6CA76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47950"/>
            <a:ext cx="666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1C6A8C-836F-4F03-923F-21FC93A9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743200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1D3B"/>
                </a:solidFill>
              </a:defRPr>
            </a:pPr>
            <a:r>
              <a:rPr sz="1200" b="1">
                <a:solidFill>
                  <a:srgbClr val="081D3B"/>
                </a:solidFill>
              </a:rPr>
              <a:t>Common Indications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7BE0DF-8DDD-4CF1-93D9-369872BDB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43200"/>
            <a:ext cx="3762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6 个常见适应症入口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0874B8-60A4-41E3-AC24-CF81D01EF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90900"/>
            <a:ext cx="666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4D244E-51DA-45DF-9B0E-9D050CB0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486150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1D3B"/>
                </a:solidFill>
              </a:defRPr>
            </a:pPr>
            <a:r>
              <a:rPr sz="1200" b="1">
                <a:solidFill>
                  <a:srgbClr val="081D3B"/>
                </a:solidFill>
              </a:rPr>
              <a:t>Professional Applications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E9505A-5EFE-4D88-92C9-678196403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86150"/>
            <a:ext cx="3762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身体区域切换 + 应用详情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0D613B-37DA-4562-A04F-B789A1BE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33850"/>
            <a:ext cx="666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8E5DF9-2619-4754-8B67-22A828EE7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229100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1D3B"/>
                </a:solidFill>
              </a:defRPr>
            </a:pPr>
            <a:r>
              <a:rPr sz="1200" b="1">
                <a:solidFill>
                  <a:srgbClr val="081D3B"/>
                </a:solidFill>
              </a:rPr>
              <a:t>Explore by Body Area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2749B5-FB7D-421C-B988-4E0FA390E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29100"/>
            <a:ext cx="3762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按肩、肘、背髋、膝、足踝、肌筋膜浏览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270DB8-AF7F-4801-830F-89D42141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876800"/>
            <a:ext cx="666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3F7FB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1D6BA5-7513-4490-84D6-597BEC6A6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972050"/>
            <a:ext cx="2333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1D3B"/>
                </a:solidFill>
              </a:defRPr>
            </a:pPr>
            <a:r>
              <a:rPr sz="1200" b="1">
                <a:solidFill>
                  <a:srgbClr val="081D3B"/>
                </a:solidFill>
              </a:rPr>
              <a:t>Dynamic Detail Template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B71F60-9BC0-4B89-94D0-F9EEAAEE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72050"/>
            <a:ext cx="3762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Hero → Overview → Application → Benefits → FAQ → CTA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F86CEF-463F-4431-8394-02845C26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7340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478C9"/>
                </a:solidFill>
              </a:defRPr>
            </a:pPr>
            <a:r>
              <a:rPr sz="825" b="1">
                <a:solidFill>
                  <a:srgbClr val="1478C9"/>
                </a:solidFill>
              </a:rPr>
              <a:t>CURRENT DETAIL SLUGS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D76F72-6169-4F32-B58F-60DE89A2F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981700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334155"/>
                </a:solidFill>
              </a:defRPr>
            </a:pPr>
            <a:r>
              <a:rPr sz="975" b="0">
                <a:solidFill>
                  <a:srgbClr val="334155"/>
                </a:solidFill>
              </a:rPr>
              <a:t>plantar-fasciitis · tennis-elbow · achilles-tendinopathy · tendinopathy · calcific-tendinitis · myofascial-trigger-points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CF1DF6-4758-4890-AD18-A43F7063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SHOCKIS MEDICAL  ·  WEBSITE ARCHITECTURE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2D0B57-4DC5-438C-89F3-67C9EBA45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78582256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3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2ADC19-079C-4643-83FB-D75CF8F9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8C9"/>
                </a:solidFill>
              </a:defRPr>
            </a:pPr>
            <a:r>
              <a:rPr sz="900" b="1">
                <a:solidFill>
                  <a:srgbClr val="1478C9"/>
                </a:solidFill>
              </a:rPr>
              <a:t>TECHNICAL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B4BEEF-19E8-4721-B6FC-1A373985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47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81D3B"/>
                </a:solidFill>
              </a:defRPr>
            </a:pPr>
            <a:r>
              <a:rPr sz="2550" b="1">
                <a:solidFill>
                  <a:srgbClr val="081D3B"/>
                </a:solidFill>
              </a:rPr>
              <a:t>React app-directory 项目结构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4D5FEC-20EE-4A18-A0CF-A03BEED8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34155"/>
                </a:solidFill>
              </a:defRPr>
            </a:pPr>
            <a:r>
              <a:rPr sz="1275" b="0">
                <a:solidFill>
                  <a:srgbClr val="334155"/>
                </a:solidFill>
              </a:rPr>
              <a:t>页面路由、共享组件、页面组件、样式与图片资源分层维护。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DD7A63-6EB1-41BD-B7EB-8D304D0A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E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408E4B-C4A8-417A-B3DF-AF7CF8CCC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2095500" cy="28003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58EDE7-9FF3-434B-83CA-6FC80242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7170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8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80FB6A-A87E-4350-A43E-D76A8F77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5745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8C9"/>
                </a:solidFill>
              </a:defRPr>
            </a:pPr>
            <a:r>
              <a:rPr sz="900" b="1">
                <a:solidFill>
                  <a:srgbClr val="1478C9"/>
                </a:solidFill>
              </a:rPr>
              <a:t>ROUTES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718AEC-A8A2-441F-ABC9-F4E4DEA2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52750"/>
            <a:ext cx="1752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1D3B"/>
                </a:solidFill>
              </a:defRPr>
            </a:pPr>
            <a:r>
              <a:rPr sz="1350" b="1">
                <a:solidFill>
                  <a:srgbClr val="081D3B"/>
                </a:solidFill>
              </a:rPr>
              <a:t>app/**/page.tsx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90D5C8-846C-4988-AB7F-201CE2257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10000"/>
            <a:ext cx="1752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E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067F23-27C3-4E36-9871-78F2F59C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576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页面 URL 与 metadata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AD1D28-B914-4C4D-811E-1665B813D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71700"/>
            <a:ext cx="2095500" cy="28003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1BED7B-32FD-4AAC-9702-3C8426437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17170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D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D982F4-E066-4D87-B45B-31335F95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5745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8C9"/>
                </a:solidFill>
              </a:defRPr>
            </a:pPr>
            <a:r>
              <a:rPr sz="900" b="1">
                <a:solidFill>
                  <a:srgbClr val="1478C9"/>
                </a:solidFill>
              </a:rPr>
              <a:t>SHARED UI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FE5B75-86D7-46E6-A331-0360EDF7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952750"/>
            <a:ext cx="1752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1D3B"/>
                </a:solidFill>
              </a:defRPr>
            </a:pPr>
            <a:r>
              <a:rPr sz="1350" b="1">
                <a:solidFill>
                  <a:srgbClr val="081D3B"/>
                </a:solidFill>
              </a:rPr>
              <a:t>app/components.tsx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D4A81A-3B84-49B6-A855-90D7211E8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810000"/>
            <a:ext cx="1752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E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FA2496-0B59-49D6-8AD3-281C773E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0576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Header · Footer · common UI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D14661-B00C-48D2-B706-B91371925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71700"/>
            <a:ext cx="2095500" cy="28003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A4C6AC-425D-4146-B482-7AB7AF616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7170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D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876F0F-FCF8-421A-A6B4-B9FEEE021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45745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8C9"/>
                </a:solidFill>
              </a:defRPr>
            </a:pPr>
            <a:r>
              <a:rPr sz="900" b="1">
                <a:solidFill>
                  <a:srgbClr val="1478C9"/>
                </a:solidFill>
              </a:rPr>
              <a:t>PAGE COMPONENTS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4E4AD0-525F-47DB-BCE7-CAE946524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52750"/>
            <a:ext cx="1752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1D3B"/>
                </a:solidFill>
              </a:defRPr>
            </a:pPr>
            <a:r>
              <a:rPr sz="1350" b="1">
                <a:solidFill>
                  <a:srgbClr val="081D3B"/>
                </a:solidFill>
              </a:rPr>
              <a:t>app/home · app/products</a:t>
            </a:r>
          </a:p>
          <a:p xmlns:a="http://schemas.openxmlformats.org/drawingml/2006/main">
            <a:pPr algn="ctr">
              <a:defRPr sz="1350" b="1">
                <a:solidFill>
                  <a:srgbClr val="081D3B"/>
                </a:solidFill>
              </a:defRPr>
            </a:pPr>
            <a:r>
              <a:rPr sz="1350" b="1">
                <a:solidFill>
                  <a:srgbClr val="081D3B"/>
                </a:solidFill>
              </a:rPr>
              <a:t>app/indications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589A18-33DA-48C5-AAF1-97A32B03D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810000"/>
            <a:ext cx="1752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E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7782C64-871F-4A00-8BCF-5FE5A18F7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576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交互与页面专属模块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879491-A4FD-4197-A93B-3BD6D2A48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71700"/>
            <a:ext cx="2095500" cy="28003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CDF4E66-91E0-46A7-8C3D-D7724B3D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7170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1D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49D585-7A2C-4791-AF61-C490CFED1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5745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8C9"/>
                </a:solidFill>
              </a:defRPr>
            </a:pPr>
            <a:r>
              <a:rPr sz="900" b="1">
                <a:solidFill>
                  <a:srgbClr val="1478C9"/>
                </a:solidFill>
              </a:rPr>
              <a:t>STYLES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7B30ED-FDEF-4925-B259-F58982657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952750"/>
            <a:ext cx="1752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1D3B"/>
                </a:solidFill>
              </a:defRPr>
            </a:pPr>
            <a:r>
              <a:rPr sz="1350" b="1">
                <a:solidFill>
                  <a:srgbClr val="081D3B"/>
                </a:solidFill>
              </a:rPr>
              <a:t>app/globals.css</a:t>
            </a:r>
          </a:p>
          <a:p xmlns:a="http://schemas.openxmlformats.org/drawingml/2006/main">
            <a:pPr algn="ctr">
              <a:defRPr sz="1350" b="1">
                <a:solidFill>
                  <a:srgbClr val="081D3B"/>
                </a:solidFill>
              </a:defRPr>
            </a:pPr>
            <a:r>
              <a:rPr sz="1350" b="1">
                <a:solidFill>
                  <a:srgbClr val="081D3B"/>
                </a:solidFill>
              </a:rPr>
              <a:t>page-scoped styles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A30DD3-D439-43A6-9B7C-39F77484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10000"/>
            <a:ext cx="1752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E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3F7C6B7-ED7C-4CEC-A837-5A4C4202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576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全局基础 + 页面隔离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95BA94-5004-4022-992F-6250236C2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171700"/>
            <a:ext cx="2095500" cy="28003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3B704D-D75E-4B36-BE5B-BC2F8B00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171700"/>
            <a:ext cx="2095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C8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B9E6D20-C641-472D-9C17-0982A180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5745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78C9"/>
                </a:solidFill>
              </a:defRPr>
            </a:pPr>
            <a:r>
              <a:rPr sz="900" b="1">
                <a:solidFill>
                  <a:srgbClr val="1478C9"/>
                </a:solidFill>
              </a:rPr>
              <a:t>ASSETS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1BF156-7022-4F94-A6CE-07B3B5A6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952750"/>
            <a:ext cx="1752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81D3B"/>
                </a:solidFill>
              </a:defRPr>
            </a:pPr>
            <a:r>
              <a:rPr sz="1350" b="1">
                <a:solidFill>
                  <a:srgbClr val="081D3B"/>
                </a:solidFill>
              </a:rPr>
              <a:t>public/images/**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DEB4B6-6603-4647-9980-1A5780B9E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810000"/>
            <a:ext cx="1752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4EE"/>
          </a:solidFill>
          <a:ln xmlns:a="http://schemas.openxmlformats.org/drawingml/2006/main" w="9525">
            <a:solidFill>
              <a:srgbClr val="D9E4EE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400BC47-7C8A-4064-BC30-578D40BA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057650"/>
            <a:ext cx="175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334155"/>
                </a:solidFill>
              </a:defRPr>
            </a:pPr>
            <a:r>
              <a:rPr sz="1050" b="0">
                <a:solidFill>
                  <a:srgbClr val="334155"/>
                </a:solidFill>
              </a:rPr>
              <a:t>产品、品牌、适应症图片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7A54A5-9C17-43B5-8E42-556AF894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478C9"/>
                </a:solidFill>
              </a:defRPr>
            </a:pPr>
            <a:r>
              <a:rPr sz="825" b="1">
                <a:solidFill>
                  <a:srgbClr val="1478C9"/>
                </a:solidFill>
              </a:rPr>
              <a:t>STACK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6B24005-41F2-4FDE-9CEC-A6AF35CF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76875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81D3B"/>
                </a:solidFill>
              </a:defRPr>
            </a:pPr>
            <a:r>
              <a:rPr sz="1200" b="1">
                <a:solidFill>
                  <a:srgbClr val="081D3B"/>
                </a:solidFill>
              </a:rPr>
              <a:t>React 19 · Vinext · Vite 8 · Tailwind 4 · TypeScript · Cloudflare-ready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FAC59D-711F-41CC-A02B-E84834C99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24625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SHOCKIS MEDICAL  ·  WEBSITE ARCHITECTURE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876210A-D2C4-41C7-88B5-38209641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64748B"/>
                </a:solidFill>
              </a:defRPr>
            </a:pPr>
            <a:r>
              <a:rPr sz="750" b="1">
                <a:solidFill>
                  <a:srgbClr val="64748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234442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81D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62041C-867E-484A-A79F-DAABCE0F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70C8F3"/>
                </a:solidFill>
              </a:defRPr>
            </a:pPr>
            <a:r>
              <a:rPr sz="900" b="1">
                <a:solidFill>
                  <a:srgbClr val="70C8F3"/>
                </a:solidFill>
              </a:rPr>
              <a:t>MAINTENANCE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7D14D-9729-45BD-A7DD-493D67EB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网站后续维护从哪里开始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AA9CA-3697-46E5-8097-C5A06C4B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C8D8E7"/>
                </a:solidFill>
              </a:defRPr>
            </a:pPr>
            <a:r>
              <a:rPr sz="1275" b="0">
                <a:solidFill>
                  <a:srgbClr val="C8D8E7"/>
                </a:solidFill>
              </a:rPr>
              <a:t>内部维护清单 + 下一阶段建议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DCE9C-3581-4199-9995-AD33D5E65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5143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02B4C"/>
          </a:solidFill>
          <a:ln xmlns:a="http://schemas.openxmlformats.org/drawingml/2006/main" w="9525">
            <a:solidFill>
              <a:srgbClr val="24496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565B84-05B0-4129-906A-4A0EF6B1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页面内容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7FF1BD-59A1-42F6-A722-80418B5D1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2669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C8F3"/>
                </a:solidFill>
              </a:defRPr>
            </a:pPr>
            <a:r>
              <a:rPr sz="1050" b="1">
                <a:solidFill>
                  <a:srgbClr val="70C8F3"/>
                </a:solidFill>
              </a:rPr>
              <a:t>app/[route]/page.tsx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73909B-C84F-4A0B-B15A-7881E2C11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2890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2DFEA"/>
                </a:solidFill>
              </a:defRPr>
            </a:pPr>
            <a:r>
              <a:rPr sz="975" b="0">
                <a:solidFill>
                  <a:srgbClr val="D2DFEA"/>
                </a:solidFill>
              </a:rPr>
              <a:t>只改对应页面，避免影响其他 route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075986-1781-452C-B423-A06FC1C81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95500"/>
            <a:ext cx="5143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02B4C"/>
          </a:solidFill>
          <a:ln xmlns:a="http://schemas.openxmlformats.org/drawingml/2006/main" w="9525">
            <a:solidFill>
              <a:srgbClr val="2449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D7F3EE-717B-4EFF-B14C-CBE4E1B0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669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全站导航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AC2D98-CEAC-43DD-9EB2-D421606B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669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C8F3"/>
                </a:solidFill>
              </a:defRPr>
            </a:pPr>
            <a:r>
              <a:rPr sz="1050" b="1">
                <a:solidFill>
                  <a:srgbClr val="70C8F3"/>
                </a:solidFill>
              </a:rPr>
              <a:t>app/components.tsx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B5E2B4-C478-4DFE-A258-03364230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2890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2DFEA"/>
                </a:solidFill>
              </a:defRPr>
            </a:pPr>
            <a:r>
              <a:rPr sz="975" b="0">
                <a:solidFill>
                  <a:srgbClr val="D2DFEA"/>
                </a:solidFill>
              </a:rPr>
              <a:t>Header / Footer 为共享组件，修改前先评估全站影响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B41DB8-7496-4188-80F2-B3AE87FC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52800"/>
            <a:ext cx="5143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02B4C"/>
          </a:solidFill>
          <a:ln xmlns:a="http://schemas.openxmlformats.org/drawingml/2006/main" w="9525">
            <a:solidFill>
              <a:srgbClr val="2449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9808D3-8130-46D0-B850-1E8BF1148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首页模块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0DBBAC-FE30-433A-8BA5-2EE86FD64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5242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C8F3"/>
                </a:solidFill>
              </a:defRPr>
            </a:pPr>
            <a:r>
              <a:rPr sz="1050" b="1">
                <a:solidFill>
                  <a:srgbClr val="70C8F3"/>
                </a:solidFill>
              </a:rPr>
              <a:t>app/page.tsx + app/home/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4D08C8-D0A2-45F0-A7B6-09549717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8620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2DFEA"/>
                </a:solidFill>
              </a:defRPr>
            </a:pPr>
            <a:r>
              <a:rPr sz="975" b="0">
                <a:solidFill>
                  <a:srgbClr val="D2DFEA"/>
                </a:solidFill>
              </a:rPr>
              <a:t>Hero、Product、Accessories、Reviews 分区维护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AE2820-9935-4EE0-96C8-0E7D93C0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52800"/>
            <a:ext cx="5143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02B4C"/>
          </a:solidFill>
          <a:ln xmlns:a="http://schemas.openxmlformats.org/drawingml/2006/main" w="9525">
            <a:solidFill>
              <a:srgbClr val="2449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2DA4F5-47DD-4CBC-91CC-DC4512AF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5242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产品画廊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3C2C7A-4DE9-407E-A244-988D85E4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242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C8F3"/>
                </a:solidFill>
              </a:defRPr>
            </a:pPr>
            <a:r>
              <a:rPr sz="1050" b="1">
                <a:solidFill>
                  <a:srgbClr val="70C8F3"/>
                </a:solidFill>
              </a:rPr>
              <a:t>app/products/ProductImageGallery.tsx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B43273-EBE4-4D7E-AD1B-81B10D3D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88620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2DFEA"/>
                </a:solidFill>
              </a:defRPr>
            </a:pPr>
            <a:r>
              <a:rPr sz="975" b="0">
                <a:solidFill>
                  <a:srgbClr val="D2DFEA"/>
                </a:solidFill>
              </a:rPr>
              <a:t>图片顺序与资源路径保持一致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05E757-12F0-4679-8A6C-80FA68BD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10100"/>
            <a:ext cx="5143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02B4C"/>
          </a:solidFill>
          <a:ln xmlns:a="http://schemas.openxmlformats.org/drawingml/2006/main" w="9525">
            <a:solidFill>
              <a:srgbClr val="24496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34F3A2-513C-4513-95F0-C00B899BF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815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临床内容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64F1DD-70E3-4F9D-B38C-6EF9D015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7815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C8F3"/>
                </a:solidFill>
              </a:defRPr>
            </a:pPr>
            <a:r>
              <a:rPr sz="1050" b="1">
                <a:solidFill>
                  <a:srgbClr val="70C8F3"/>
                </a:solidFill>
              </a:rPr>
              <a:t>app/indications/data.ts + [slug]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208B2A-9360-4B68-B1AF-B0E1FDD6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4350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2DFEA"/>
                </a:solidFill>
              </a:defRPr>
            </a:pPr>
            <a:r>
              <a:rPr sz="975" b="0">
                <a:solidFill>
                  <a:srgbClr val="D2DFEA"/>
                </a:solidFill>
              </a:rPr>
              <a:t>统一数据与模板，避免重复页面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9FB3BD-B322-4146-80BC-FAF31BA3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610100"/>
            <a:ext cx="514350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102B4C"/>
          </a:solidFill>
          <a:ln xmlns:a="http://schemas.openxmlformats.org/drawingml/2006/main" w="9525">
            <a:solidFill>
              <a:srgbClr val="24496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99583B-20ED-40EB-BE5F-031735D2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7815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图片资产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8F97DF-93F9-4424-B81F-D32634423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815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0C8F3"/>
                </a:solidFill>
              </a:defRPr>
            </a:pPr>
            <a:r>
              <a:rPr sz="1050" b="1">
                <a:solidFill>
                  <a:srgbClr val="70C8F3"/>
                </a:solidFill>
              </a:rPr>
              <a:t>public/images/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A5DE37-93CB-427D-8328-BF28EF80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43500"/>
            <a:ext cx="4667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2DFEA"/>
                </a:solidFill>
              </a:defRPr>
            </a:pPr>
            <a:r>
              <a:rPr sz="975" b="0">
                <a:solidFill>
                  <a:srgbClr val="D2DFEA"/>
                </a:solidFill>
              </a:rPr>
              <a:t>保留清晰文件名、alt 与稳定路径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E4C8D3-ABB1-4AE3-8111-673AB8529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0C8F3"/>
                </a:solidFill>
              </a:defRPr>
            </a:pPr>
            <a:r>
              <a:rPr sz="825" b="1">
                <a:solidFill>
                  <a:srgbClr val="70C8F3"/>
                </a:solidFill>
              </a:rPr>
              <a:t>NEXT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1C5B839-5E1F-4B70-B19A-3C75C38D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048375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Visual assets → Brand content → SEO content → Official launch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BCA73A-B27E-4008-BB91-DED105B01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24625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DA8C0"/>
                </a:solidFill>
              </a:defRPr>
            </a:pPr>
            <a:r>
              <a:rPr sz="750" b="1">
                <a:solidFill>
                  <a:srgbClr val="8DA8C0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559001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2026-08-18T05:49:54.2470000Z</dcterms:created>
  <dcterms:modified xsi:type="dcterms:W3CDTF">2026-08-18T05:49:54.2480000Z</dcterms:modified>
</coreProperties>
</file>